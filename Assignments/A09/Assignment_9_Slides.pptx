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9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80" r:id="rId11"/>
    <p:sldId id="281" r:id="rId12"/>
    <p:sldId id="282" r:id="rId13"/>
    <p:sldId id="283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8BA"/>
    <a:srgbClr val="82D7E2"/>
    <a:srgbClr val="E9F9FB"/>
    <a:srgbClr val="C3EEF3"/>
    <a:srgbClr val="EAF4F8"/>
    <a:srgbClr val="D4F4F8"/>
    <a:srgbClr val="A3E6EF"/>
    <a:srgbClr val="CC99FF"/>
    <a:srgbClr val="756DD9"/>
    <a:srgbClr val="A2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5C8B5-132A-43C9-9ECA-A3101E39350B}" v="143" dt="2026-03-16T15:18:33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3" autoAdjust="0"/>
    <p:restoredTop sz="94669"/>
  </p:normalViewPr>
  <p:slideViewPr>
    <p:cSldViewPr snapToGrid="0">
      <p:cViewPr varScale="1">
        <p:scale>
          <a:sx n="98" d="100"/>
          <a:sy n="98" d="100"/>
        </p:scale>
        <p:origin x="3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Yuchen (Alana)" userId="Ii0s//rrasVBGPwygXoWpUScbcGZZzIWXz5NuVqkxr4=" providerId="None" clId="Web-{FFF5C8B5-132A-43C9-9ECA-A3101E39350B}"/>
    <pc:docChg chg="modSld">
      <pc:chgData name="Cheng, Yuchen (Alana)" userId="Ii0s//rrasVBGPwygXoWpUScbcGZZzIWXz5NuVqkxr4=" providerId="None" clId="Web-{FFF5C8B5-132A-43C9-9ECA-A3101E39350B}" dt="2026-03-16T15:18:33.961" v="90" actId="1076"/>
      <pc:docMkLst>
        <pc:docMk/>
      </pc:docMkLst>
      <pc:sldChg chg="modSp">
        <pc:chgData name="Cheng, Yuchen (Alana)" userId="Ii0s//rrasVBGPwygXoWpUScbcGZZzIWXz5NuVqkxr4=" providerId="None" clId="Web-{FFF5C8B5-132A-43C9-9ECA-A3101E39350B}" dt="2026-03-16T15:08:37.188" v="43" actId="20577"/>
        <pc:sldMkLst>
          <pc:docMk/>
          <pc:sldMk cId="1037553816" sldId="258"/>
        </pc:sldMkLst>
        <pc:spChg chg="mod">
          <ac:chgData name="Cheng, Yuchen (Alana)" userId="Ii0s//rrasVBGPwygXoWpUScbcGZZzIWXz5NuVqkxr4=" providerId="None" clId="Web-{FFF5C8B5-132A-43C9-9ECA-A3101E39350B}" dt="2026-03-16T15:08:37.188" v="43" actId="20577"/>
          <ac:spMkLst>
            <pc:docMk/>
            <pc:sldMk cId="1037553816" sldId="258"/>
            <ac:spMk id="4" creationId="{A0E5B3C3-5C21-29DA-847A-6FB4374916B9}"/>
          </ac:spMkLst>
        </pc:spChg>
      </pc:sldChg>
      <pc:sldChg chg="modSp">
        <pc:chgData name="Cheng, Yuchen (Alana)" userId="Ii0s//rrasVBGPwygXoWpUScbcGZZzIWXz5NuVqkxr4=" providerId="None" clId="Web-{FFF5C8B5-132A-43C9-9ECA-A3101E39350B}" dt="2026-03-16T15:13:08.441" v="52" actId="20577"/>
        <pc:sldMkLst>
          <pc:docMk/>
          <pc:sldMk cId="672582309" sldId="260"/>
        </pc:sldMkLst>
        <pc:spChg chg="mod">
          <ac:chgData name="Cheng, Yuchen (Alana)" userId="Ii0s//rrasVBGPwygXoWpUScbcGZZzIWXz5NuVqkxr4=" providerId="None" clId="Web-{FFF5C8B5-132A-43C9-9ECA-A3101E39350B}" dt="2026-03-16T15:13:08.441" v="52" actId="20577"/>
          <ac:spMkLst>
            <pc:docMk/>
            <pc:sldMk cId="672582309" sldId="260"/>
            <ac:spMk id="4" creationId="{A0E5B3C3-5C21-29DA-847A-6FB4374916B9}"/>
          </ac:spMkLst>
        </pc:spChg>
      </pc:sldChg>
      <pc:sldChg chg="modSp">
        <pc:chgData name="Cheng, Yuchen (Alana)" userId="Ii0s//rrasVBGPwygXoWpUScbcGZZzIWXz5NuVqkxr4=" providerId="None" clId="Web-{FFF5C8B5-132A-43C9-9ECA-A3101E39350B}" dt="2026-03-16T15:10:26.611" v="45" actId="1076"/>
        <pc:sldMkLst>
          <pc:docMk/>
          <pc:sldMk cId="3007004682" sldId="262"/>
        </pc:sldMkLst>
        <pc:spChg chg="mod">
          <ac:chgData name="Cheng, Yuchen (Alana)" userId="Ii0s//rrasVBGPwygXoWpUScbcGZZzIWXz5NuVqkxr4=" providerId="None" clId="Web-{FFF5C8B5-132A-43C9-9ECA-A3101E39350B}" dt="2026-03-16T15:10:26.611" v="45" actId="1076"/>
          <ac:spMkLst>
            <pc:docMk/>
            <pc:sldMk cId="3007004682" sldId="262"/>
            <ac:spMk id="4" creationId="{A0E5B3C3-5C21-29DA-847A-6FB4374916B9}"/>
          </ac:spMkLst>
        </pc:spChg>
      </pc:sldChg>
      <pc:sldChg chg="modSp">
        <pc:chgData name="Cheng, Yuchen (Alana)" userId="Ii0s//rrasVBGPwygXoWpUScbcGZZzIWXz5NuVqkxr4=" providerId="None" clId="Web-{FFF5C8B5-132A-43C9-9ECA-A3101E39350B}" dt="2026-03-16T15:14:51.332" v="59" actId="1076"/>
        <pc:sldMkLst>
          <pc:docMk/>
          <pc:sldMk cId="3783125151" sldId="263"/>
        </pc:sldMkLst>
        <pc:spChg chg="mod">
          <ac:chgData name="Cheng, Yuchen (Alana)" userId="Ii0s//rrasVBGPwygXoWpUScbcGZZzIWXz5NuVqkxr4=" providerId="None" clId="Web-{FFF5C8B5-132A-43C9-9ECA-A3101E39350B}" dt="2026-03-16T15:14:48.785" v="58" actId="1076"/>
          <ac:spMkLst>
            <pc:docMk/>
            <pc:sldMk cId="3783125151" sldId="263"/>
            <ac:spMk id="4" creationId="{A0E5B3C3-5C21-29DA-847A-6FB4374916B9}"/>
          </ac:spMkLst>
        </pc:spChg>
        <pc:picChg chg="mod">
          <ac:chgData name="Cheng, Yuchen (Alana)" userId="Ii0s//rrasVBGPwygXoWpUScbcGZZzIWXz5NuVqkxr4=" providerId="None" clId="Web-{FFF5C8B5-132A-43C9-9ECA-A3101E39350B}" dt="2026-03-16T15:14:51.332" v="59" actId="1076"/>
          <ac:picMkLst>
            <pc:docMk/>
            <pc:sldMk cId="3783125151" sldId="263"/>
            <ac:picMk id="9" creationId="{D94CC020-6DFA-8B01-65E3-F6335FB6AEB2}"/>
          </ac:picMkLst>
        </pc:picChg>
      </pc:sldChg>
      <pc:sldChg chg="modSp">
        <pc:chgData name="Cheng, Yuchen (Alana)" userId="Ii0s//rrasVBGPwygXoWpUScbcGZZzIWXz5NuVqkxr4=" providerId="None" clId="Web-{FFF5C8B5-132A-43C9-9ECA-A3101E39350B}" dt="2026-03-16T15:16:04.317" v="60" actId="1076"/>
        <pc:sldMkLst>
          <pc:docMk/>
          <pc:sldMk cId="593425842" sldId="265"/>
        </pc:sldMkLst>
        <pc:picChg chg="mod">
          <ac:chgData name="Cheng, Yuchen (Alana)" userId="Ii0s//rrasVBGPwygXoWpUScbcGZZzIWXz5NuVqkxr4=" providerId="None" clId="Web-{FFF5C8B5-132A-43C9-9ECA-A3101E39350B}" dt="2026-03-16T15:16:04.317" v="60" actId="1076"/>
          <ac:picMkLst>
            <pc:docMk/>
            <pc:sldMk cId="593425842" sldId="265"/>
            <ac:picMk id="7" creationId="{0CE19232-AEC6-D996-64F9-E158A60513FE}"/>
          </ac:picMkLst>
        </pc:picChg>
      </pc:sldChg>
      <pc:sldChg chg="addSp delSp modSp delAnim">
        <pc:chgData name="Cheng, Yuchen (Alana)" userId="Ii0s//rrasVBGPwygXoWpUScbcGZZzIWXz5NuVqkxr4=" providerId="None" clId="Web-{FFF5C8B5-132A-43C9-9ECA-A3101E39350B}" dt="2026-03-16T15:18:33.961" v="90" actId="1076"/>
        <pc:sldMkLst>
          <pc:docMk/>
          <pc:sldMk cId="290199732" sldId="266"/>
        </pc:sldMkLst>
        <pc:spChg chg="add mod">
          <ac:chgData name="Cheng, Yuchen (Alana)" userId="Ii0s//rrasVBGPwygXoWpUScbcGZZzIWXz5NuVqkxr4=" providerId="None" clId="Web-{FFF5C8B5-132A-43C9-9ECA-A3101E39350B}" dt="2026-03-16T15:18:33.961" v="90" actId="1076"/>
          <ac:spMkLst>
            <pc:docMk/>
            <pc:sldMk cId="290199732" sldId="266"/>
            <ac:spMk id="5" creationId="{D78D355E-3BD3-2CFF-7282-E56D7C24C666}"/>
          </ac:spMkLst>
        </pc:spChg>
        <pc:spChg chg="del mod">
          <ac:chgData name="Cheng, Yuchen (Alana)" userId="Ii0s//rrasVBGPwygXoWpUScbcGZZzIWXz5NuVqkxr4=" providerId="None" clId="Web-{FFF5C8B5-132A-43C9-9ECA-A3101E39350B}" dt="2026-03-16T15:17:12.067" v="64"/>
          <ac:spMkLst>
            <pc:docMk/>
            <pc:sldMk cId="290199732" sldId="266"/>
            <ac:spMk id="21" creationId="{8DC3E957-65AC-47A8-B524-A3E7312FAF02}"/>
          </ac:spMkLst>
        </pc:spChg>
        <pc:picChg chg="mod">
          <ac:chgData name="Cheng, Yuchen (Alana)" userId="Ii0s//rrasVBGPwygXoWpUScbcGZZzIWXz5NuVqkxr4=" providerId="None" clId="Web-{FFF5C8B5-132A-43C9-9ECA-A3101E39350B}" dt="2026-03-16T15:17:32.302" v="68" actId="14100"/>
          <ac:picMkLst>
            <pc:docMk/>
            <pc:sldMk cId="290199732" sldId="266"/>
            <ac:picMk id="11" creationId="{A0DA2CFA-F0B0-3A96-F58B-BE976F52DD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85A92-841B-6843-ABF2-EB4DE1CF854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CB111-6FAA-EC4D-9F22-9CC9F3E4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8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4CB111-6FAA-EC4D-9F22-9CC9F3E426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3C6A5-EDC5-A98B-94CB-016BE56D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22E7A-1EC0-5A43-BA95-3D834B2285FB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D8462-3983-0312-5B0E-90686A4D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FDC39A-7E2A-AF95-1EA6-AA9C30325CA4}"/>
              </a:ext>
            </a:extLst>
          </p:cNvPr>
          <p:cNvCxnSpPr/>
          <p:nvPr userDrawn="1"/>
        </p:nvCxnSpPr>
        <p:spPr>
          <a:xfrm>
            <a:off x="0" y="711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E629AD-DD58-EA80-A20C-9C965233C241}"/>
              </a:ext>
            </a:extLst>
          </p:cNvPr>
          <p:cNvCxnSpPr/>
          <p:nvPr userDrawn="1"/>
        </p:nvCxnSpPr>
        <p:spPr>
          <a:xfrm>
            <a:off x="0" y="5811520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21E43C-1E44-9211-66D5-E2C79346210B}"/>
              </a:ext>
            </a:extLst>
          </p:cNvPr>
          <p:cNvCxnSpPr/>
          <p:nvPr userDrawn="1"/>
        </p:nvCxnSpPr>
        <p:spPr>
          <a:xfrm>
            <a:off x="0" y="1046480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E2A955-CE96-3D18-477B-41BE3ADCDDAD}"/>
              </a:ext>
            </a:extLst>
          </p:cNvPr>
          <p:cNvCxnSpPr>
            <a:cxnSpLocks/>
          </p:cNvCxnSpPr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54EAAC1-7BDB-9055-0E2B-764F4725EA1E}"/>
              </a:ext>
            </a:extLst>
          </p:cNvPr>
          <p:cNvSpPr/>
          <p:nvPr userDrawn="1"/>
        </p:nvSpPr>
        <p:spPr>
          <a:xfrm>
            <a:off x="2565407" y="1645942"/>
            <a:ext cx="7061186" cy="2976837"/>
          </a:xfrm>
          <a:prstGeom prst="rect">
            <a:avLst/>
          </a:prstGeom>
          <a:solidFill>
            <a:srgbClr val="82D7E2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352A9-48A8-FCC7-46B2-00E0CC6F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060" y="636143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170B37-9880-6F41-86B3-123109FD7B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2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3C6A5-EDC5-A98B-94CB-016BE56D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1F892-1CA4-914D-9F7F-667E583DF960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D8462-3983-0312-5B0E-90686A4D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FDC39A-7E2A-AF95-1EA6-AA9C30325CA4}"/>
              </a:ext>
            </a:extLst>
          </p:cNvPr>
          <p:cNvCxnSpPr/>
          <p:nvPr userDrawn="1"/>
        </p:nvCxnSpPr>
        <p:spPr>
          <a:xfrm>
            <a:off x="0" y="19304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E629AD-DD58-EA80-A20C-9C965233C241}"/>
              </a:ext>
            </a:extLst>
          </p:cNvPr>
          <p:cNvCxnSpPr/>
          <p:nvPr userDrawn="1"/>
        </p:nvCxnSpPr>
        <p:spPr>
          <a:xfrm>
            <a:off x="0" y="6659489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21E43C-1E44-9211-66D5-E2C79346210B}"/>
              </a:ext>
            </a:extLst>
          </p:cNvPr>
          <p:cNvCxnSpPr/>
          <p:nvPr userDrawn="1"/>
        </p:nvCxnSpPr>
        <p:spPr>
          <a:xfrm>
            <a:off x="0" y="325120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E2A955-CE96-3D18-477B-41BE3ADCDDAD}"/>
              </a:ext>
            </a:extLst>
          </p:cNvPr>
          <p:cNvCxnSpPr>
            <a:cxnSpLocks/>
          </p:cNvCxnSpPr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D77AD-ED41-AC88-7CC2-B3C5503A6870}"/>
              </a:ext>
            </a:extLst>
          </p:cNvPr>
          <p:cNvSpPr/>
          <p:nvPr userDrawn="1"/>
        </p:nvSpPr>
        <p:spPr>
          <a:xfrm>
            <a:off x="11541760" y="4561840"/>
            <a:ext cx="650240" cy="2296160"/>
          </a:xfrm>
          <a:prstGeom prst="rect">
            <a:avLst/>
          </a:prstGeom>
          <a:solidFill>
            <a:srgbClr val="A3E6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4EAAC1-7BDB-9055-0E2B-764F4725EA1E}"/>
              </a:ext>
            </a:extLst>
          </p:cNvPr>
          <p:cNvSpPr/>
          <p:nvPr userDrawn="1"/>
        </p:nvSpPr>
        <p:spPr>
          <a:xfrm>
            <a:off x="11176013" y="0"/>
            <a:ext cx="881367" cy="955039"/>
          </a:xfrm>
          <a:prstGeom prst="rect">
            <a:avLst/>
          </a:prstGeom>
          <a:solidFill>
            <a:srgbClr val="C3EEF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352A9-48A8-FCC7-46B2-00E0CC6F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060" y="635031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170B37-9880-6F41-86B3-123109FD7B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63B73C-3CDE-CDC5-45A1-0730852FAD81}"/>
              </a:ext>
            </a:extLst>
          </p:cNvPr>
          <p:cNvCxnSpPr/>
          <p:nvPr userDrawn="1"/>
        </p:nvCxnSpPr>
        <p:spPr>
          <a:xfrm>
            <a:off x="-44986" y="1314802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65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258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EB2BC-2B37-914C-0CEE-123DF11A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F4D87-968D-AECC-5748-85ADEF157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04C3-0091-5CBD-E771-4C379AA42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8B8A-DB21-294E-904A-C599C21970DB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FAC7-02FF-42C1-09D3-B3DBEE87B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7596F-D601-B91B-80F6-EB90F5CE6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70B37-9880-6F41-86B3-123109FD7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9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amtools.github.io/bcftools/howtos/query.html" TargetMode="External"/><Relationship Id="rId2" Type="http://schemas.openxmlformats.org/officeDocument/2006/relationships/hyperlink" Target="https://samtools.github.io/bcftools/bcftool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amtools.github.io/bcftools/howtos/query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hat.com/sysadmin/uniq-command-lists" TargetMode="External"/><Relationship Id="rId2" Type="http://schemas.openxmlformats.org/officeDocument/2006/relationships/hyperlink" Target="https://samtools.github.io/bcftools/howtos/quer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en.wikipedia.org/wiki/Fisher%27s_exact_tes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0FA37C-9ADE-7EBF-C6E0-6100F133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7AFB7-80DE-2401-5F19-784E6E077DDB}"/>
              </a:ext>
            </a:extLst>
          </p:cNvPr>
          <p:cNvSpPr txBox="1"/>
          <p:nvPr/>
        </p:nvSpPr>
        <p:spPr>
          <a:xfrm>
            <a:off x="2565400" y="2074721"/>
            <a:ext cx="706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Andale Mono" panose="020B0509000000000004" pitchFamily="49" charset="0"/>
                <a:cs typeface="Consolas" panose="020B0609020204030204" pitchFamily="49" charset="0"/>
              </a:rPr>
              <a:t>Assignment 9 </a:t>
            </a:r>
            <a:endParaRPr lang="en-US" sz="4800" dirty="0">
              <a:solidFill>
                <a:schemeClr val="bg1"/>
              </a:solidFill>
              <a:latin typeface="Andale Mono" panose="020B05090000000000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4800">
                <a:solidFill>
                  <a:schemeClr val="bg1"/>
                </a:solidFill>
                <a:latin typeface="Andale Mono" panose="020B0509000000000004" pitchFamily="49" charset="0"/>
                <a:cs typeface="Consolas" panose="020B0609020204030204" pitchFamily="49" charset="0"/>
              </a:rPr>
              <a:t>Variant Analysis</a:t>
            </a:r>
            <a:endParaRPr lang="en-US" sz="4800" dirty="0">
              <a:solidFill>
                <a:schemeClr val="bg1"/>
              </a:solidFill>
              <a:latin typeface="Andale Mono" panose="020B05090000000000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38D71-BD2E-6BAB-AB24-179A234BC357}"/>
              </a:ext>
            </a:extLst>
          </p:cNvPr>
          <p:cNvSpPr txBox="1"/>
          <p:nvPr/>
        </p:nvSpPr>
        <p:spPr>
          <a:xfrm>
            <a:off x="3832034" y="3930819"/>
            <a:ext cx="45279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ndale Mono"/>
              </a:rPr>
              <a:t>3/21/25</a:t>
            </a:r>
            <a:endParaRPr lang="en-US" sz="2400" dirty="0">
              <a:solidFill>
                <a:schemeClr val="bg1"/>
              </a:solidFill>
              <a:latin typeface="Andale Mono" panose="020B05090000000000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F0D1A3-7E1B-12A2-4DE5-BB604D4B464B}"/>
              </a:ext>
            </a:extLst>
          </p:cNvPr>
          <p:cNvCxnSpPr/>
          <p:nvPr/>
        </p:nvCxnSpPr>
        <p:spPr>
          <a:xfrm>
            <a:off x="5346853" y="3789803"/>
            <a:ext cx="149829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26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ndale Mono" panose="020B0509000000000004" pitchFamily="49" charset="0"/>
              </a:rPr>
              <a:t>Assignment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0" y="1527062"/>
            <a:ext cx="10697379" cy="32778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/>
              </a:rPr>
              <a:t>Assignment 9 due </a:t>
            </a:r>
            <a:r>
              <a:rPr lang="en-US" sz="2400" dirty="0">
                <a:solidFill>
                  <a:srgbClr val="000000"/>
                </a:solidFill>
                <a:latin typeface="Andale Mono"/>
              </a:rPr>
              <a:t>11:59PM </a:t>
            </a:r>
            <a:r>
              <a:rPr lang="en-US" sz="2400" dirty="0">
                <a:solidFill>
                  <a:schemeClr val="bg1"/>
                </a:solidFill>
                <a:highlight>
                  <a:srgbClr val="808080"/>
                </a:highlight>
                <a:latin typeface="Andale Mono"/>
              </a:rPr>
              <a:t>March 27</a:t>
            </a:r>
            <a:r>
              <a:rPr lang="en-US" sz="2400" baseline="30000" dirty="0">
                <a:solidFill>
                  <a:schemeClr val="bg1"/>
                </a:solidFill>
                <a:highlight>
                  <a:srgbClr val="808080"/>
                </a:highlight>
                <a:latin typeface="Andale Mono"/>
              </a:rPr>
              <a:t>th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/>
              </a:rPr>
              <a:t>Goal: gain proficiency in analyzing potential pathogenic variants derived from genome sequencing data</a:t>
            </a:r>
            <a:endParaRPr lang="en-US"/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 panose="020B0509000000000004" pitchFamily="49" charset="0"/>
              </a:rPr>
              <a:t>Use </a:t>
            </a:r>
            <a:r>
              <a:rPr lang="en-US" sz="2400" dirty="0" err="1">
                <a:latin typeface="Andale Mono" panose="020B0509000000000004" pitchFamily="49" charset="0"/>
              </a:rPr>
              <a:t>bcftools</a:t>
            </a:r>
            <a:r>
              <a:rPr lang="en-US" sz="2400" dirty="0">
                <a:latin typeface="Andale Mono" panose="020B0509000000000004" pitchFamily="49" charset="0"/>
              </a:rPr>
              <a:t> to analyze variants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 panose="020B0509000000000004" pitchFamily="49" charset="0"/>
              </a:rPr>
              <a:t>Search the Genome Aggregation Database (</a:t>
            </a:r>
            <a:r>
              <a:rPr lang="en-US" sz="2400" dirty="0" err="1">
                <a:latin typeface="Andale Mono" panose="020B0509000000000004" pitchFamily="49" charset="0"/>
              </a:rPr>
              <a:t>gnomAD</a:t>
            </a:r>
            <a:r>
              <a:rPr lang="en-US" sz="2400" dirty="0">
                <a:latin typeface="Andale Mono" panose="020B0509000000000004" pitchFamily="49" charset="0"/>
              </a:rPr>
              <a:t>) to find variant information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 panose="020B0509000000000004" pitchFamily="49" charset="0"/>
              </a:rPr>
              <a:t>Perform a Fisher’s exact test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55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0 – Before you start 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0" y="1307987"/>
            <a:ext cx="11145986" cy="5037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/>
              </a:rPr>
              <a:t>Decompress the .</a:t>
            </a:r>
            <a:r>
              <a:rPr lang="en-US" sz="2400" dirty="0" err="1">
                <a:latin typeface="Andale Mono"/>
              </a:rPr>
              <a:t>gz</a:t>
            </a:r>
            <a:r>
              <a:rPr lang="en-US" sz="2400" dirty="0">
                <a:latin typeface="Andale Mono"/>
              </a:rPr>
              <a:t> file using the </a:t>
            </a:r>
            <a:r>
              <a:rPr lang="en-US" sz="2400" dirty="0" err="1">
                <a:latin typeface="Andale Mono"/>
              </a:rPr>
              <a:t>gunzip</a:t>
            </a:r>
            <a:r>
              <a:rPr lang="en-US" sz="2400" dirty="0">
                <a:latin typeface="Andale Mono"/>
              </a:rPr>
              <a:t> command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gunzip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 example.vcf.gz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/>
              </a:rPr>
              <a:t>Test to make sure </a:t>
            </a:r>
            <a:r>
              <a:rPr lang="en-US" sz="2400" dirty="0" err="1">
                <a:latin typeface="Andale Mono"/>
              </a:rPr>
              <a:t>bcftools</a:t>
            </a:r>
            <a:r>
              <a:rPr lang="en-US" sz="2400" dirty="0">
                <a:latin typeface="Andale Mono"/>
              </a:rPr>
              <a:t> is running in the docker</a:t>
            </a: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sz="2400" dirty="0">
                <a:latin typeface="Andale Mono"/>
              </a:rPr>
              <a:t>Run the Docker container using our image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bsub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 -Is -q general-interactive -G compute-workshop -a 'docker(takinwe1/bio5488:0.0)' /bin/bash (</a:t>
            </a:r>
            <a:endParaRPr lang="en-US" sz="2400" dirty="0">
              <a:solidFill>
                <a:srgbClr val="2C98B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AutoNum type="arabicPeriod" startAt="2"/>
            </a:pPr>
            <a:r>
              <a:rPr lang="en-US" sz="2400" dirty="0">
                <a:latin typeface="Andale Mono"/>
              </a:rPr>
              <a:t>Activate the </a:t>
            </a:r>
            <a:r>
              <a:rPr lang="en-US" sz="2400" dirty="0" err="1">
                <a:latin typeface="Andale Mono"/>
              </a:rPr>
              <a:t>conda</a:t>
            </a:r>
            <a:r>
              <a:rPr lang="en-US" sz="2400" dirty="0">
                <a:latin typeface="Andale Mono"/>
              </a:rPr>
              <a:t> environment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conda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 activate bio5488</a:t>
            </a:r>
          </a:p>
          <a:p>
            <a:pPr marL="914400" lvl="1" indent="-4572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US" sz="2400" dirty="0">
                <a:latin typeface="Andale Mono"/>
              </a:rPr>
              <a:t>Check to make sure </a:t>
            </a:r>
            <a:r>
              <a:rPr lang="en-US" sz="2400" dirty="0" err="1">
                <a:latin typeface="Andale Mono"/>
              </a:rPr>
              <a:t>bcftools</a:t>
            </a:r>
            <a:r>
              <a:rPr lang="en-US" sz="2400" dirty="0">
                <a:latin typeface="Andale Mono"/>
              </a:rPr>
              <a:t> is accessible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bcftools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 --version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2400" dirty="0">
                <a:latin typeface="Andale Mono"/>
              </a:rPr>
              <a:t>If you get a </a:t>
            </a:r>
            <a:r>
              <a:rPr lang="en-US" sz="2400" dirty="0" err="1">
                <a:latin typeface="Andale Mono"/>
              </a:rPr>
              <a:t>conda</a:t>
            </a:r>
            <a:r>
              <a:rPr lang="en-US" sz="2400" dirty="0">
                <a:latin typeface="Andale Mono"/>
              </a:rPr>
              <a:t> error, specify the path to the tool rather than activating </a:t>
            </a:r>
            <a:r>
              <a:rPr lang="en-US" sz="2400" dirty="0" err="1">
                <a:latin typeface="Andale Mono"/>
              </a:rPr>
              <a:t>conda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/opt/</a:t>
            </a: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conda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/</a:t>
            </a: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envs</a:t>
            </a:r>
            <a:r>
              <a:rPr lang="en-US" sz="2400" dirty="0">
                <a:solidFill>
                  <a:srgbClr val="2C98BA"/>
                </a:solidFill>
                <a:latin typeface="Courier New"/>
                <a:cs typeface="Courier New"/>
              </a:rPr>
              <a:t>/bio5488/bin/</a:t>
            </a:r>
            <a:r>
              <a:rPr lang="en-US" sz="2400" dirty="0" err="1">
                <a:solidFill>
                  <a:srgbClr val="2C98BA"/>
                </a:solidFill>
                <a:latin typeface="Courier New"/>
                <a:cs typeface="Courier New"/>
              </a:rPr>
              <a:t>bcftools</a:t>
            </a:r>
          </a:p>
        </p:txBody>
      </p:sp>
    </p:spTree>
    <p:extLst>
      <p:ext uri="{BB962C8B-B14F-4D97-AF65-F5344CB8AC3E}">
        <p14:creationId xmlns:p14="http://schemas.microsoft.com/office/powerpoint/2010/main" val="67258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1 – VCF Header 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1" y="1130855"/>
            <a:ext cx="1047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Use the less or head command to look for the GATK version and information on the reference genome in the VCF header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E5486-EB72-506F-273C-4732129516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58"/>
          <a:stretch/>
        </p:blipFill>
        <p:spPr>
          <a:xfrm>
            <a:off x="512848" y="2410891"/>
            <a:ext cx="10897160" cy="2556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CC7DC4-B55E-A6E0-7904-D06F7425F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8" y="5065954"/>
            <a:ext cx="10897160" cy="14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0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1 – bcftools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499660" y="1231787"/>
            <a:ext cx="10471675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bcftools, part ot he samtools suite, are utilities for manipulating VCF and BCF (binary variant call format) files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See the manual for commands to use to find the number of samples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>
                <a:latin typeface="Andale Mono" panose="020B0509000000000004" pitchFamily="49" charset="0"/>
                <a:hlinkClick r:id="rId2"/>
              </a:rPr>
              <a:t>https://samtools.github.io/bcftools/bcftools.html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>
                <a:latin typeface="Andale Mono" panose="020B0509000000000004" pitchFamily="49" charset="0"/>
                <a:hlinkClick r:id="rId3"/>
              </a:rPr>
              <a:t>https://samtools.github.io/bcftools/howtos/query.html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2400">
              <a:latin typeface="Andale Mono" panose="020B050900000000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4CC020-6DFA-8B01-65E3-F6335FB6A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10" y="4108540"/>
            <a:ext cx="9095716" cy="25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2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2 – VCF Contents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1" y="1674417"/>
            <a:ext cx="1047167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Use bcftools to parse through the VCF file and get information about the position of the variant &amp; the REF and ALT alleles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Again, see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>
                <a:latin typeface="Andale Mono" panose="020B0509000000000004" pitchFamily="49" charset="0"/>
                <a:hlinkClick r:id="rId2"/>
              </a:rPr>
              <a:t>https://samtools.github.io/bcftools/howtos/query.html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2400">
              <a:latin typeface="Andale Mono" panose="020B050900000000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C7D07-817C-9058-0781-04BE6ACC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902" y="3709547"/>
            <a:ext cx="9494196" cy="264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2 – VCF Contents – Hints!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1" y="1761471"/>
            <a:ext cx="10471675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To count the genotypes present for the variant, look at the following three commands which can be assembled using the pipe sign |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Tx/>
              <a:buChar char="–"/>
            </a:pPr>
            <a:r>
              <a:rPr lang="en-US" sz="2400">
                <a:latin typeface="Andale Mono" panose="020B0509000000000004" pitchFamily="49" charset="0"/>
              </a:rPr>
              <a:t>bcftools query </a:t>
            </a:r>
            <a:r>
              <a:rPr lang="en-US" sz="2400">
                <a:latin typeface="Andale Mono" panose="020B0509000000000004" pitchFamily="49" charset="0"/>
                <a:hlinkClick r:id="rId2"/>
              </a:rPr>
              <a:t>https://samtools.github.io/bcftools/howtos/query.html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Tx/>
              <a:buChar char="–"/>
            </a:pPr>
            <a:r>
              <a:rPr lang="en-US" sz="2400">
                <a:latin typeface="Andale Mono" panose="020B0509000000000004" pitchFamily="49" charset="0"/>
              </a:rPr>
              <a:t>uniq and sort </a:t>
            </a:r>
            <a:r>
              <a:rPr lang="en-US" sz="2400">
                <a:latin typeface="Andale Mono" panose="020B0509000000000004" pitchFamily="49" charset="0"/>
                <a:hlinkClick r:id="rId3"/>
              </a:rPr>
              <a:t>https://www.redhat.com/sysadmin/uniq-command-lists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2400">
              <a:latin typeface="Andale Mono" panose="020B0509000000000004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2400">
              <a:latin typeface="Andale Mono" panose="020B050900000000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19232-AEC6-D996-64F9-E158A6051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4" y="5058974"/>
            <a:ext cx="10615581" cy="129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2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3 – gnomAD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1" y="1453332"/>
            <a:ext cx="4413187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Search for the variant using the genomic loci you found in part 2 using the format </a:t>
            </a:r>
            <a:r>
              <a:rPr lang="en-US" sz="2400">
                <a:solidFill>
                  <a:srgbClr val="0070C0"/>
                </a:solidFill>
                <a:latin typeface="Andale Mono" panose="020B0509000000000004" pitchFamily="49" charset="0"/>
              </a:rPr>
              <a:t>CHROM</a:t>
            </a:r>
            <a:r>
              <a:rPr lang="en-US" sz="2400">
                <a:latin typeface="Andale Mono" panose="020B0509000000000004" pitchFamily="49" charset="0"/>
              </a:rPr>
              <a:t>-</a:t>
            </a:r>
            <a:r>
              <a:rPr lang="en-US" sz="2400">
                <a:solidFill>
                  <a:srgbClr val="A3E6EF"/>
                </a:solidFill>
                <a:latin typeface="Andale Mono" panose="020B0509000000000004" pitchFamily="49" charset="0"/>
              </a:rPr>
              <a:t>POS</a:t>
            </a:r>
            <a:r>
              <a:rPr lang="en-US" sz="2400">
                <a:latin typeface="Andale Mono" panose="020B0509000000000004" pitchFamily="49" charset="0"/>
              </a:rPr>
              <a:t> as in </a:t>
            </a:r>
            <a:r>
              <a:rPr lang="en-US" sz="2400">
                <a:solidFill>
                  <a:srgbClr val="0070C0"/>
                </a:solidFill>
                <a:latin typeface="Andale Mono" panose="020B0509000000000004" pitchFamily="49" charset="0"/>
              </a:rPr>
              <a:t>17</a:t>
            </a:r>
            <a:r>
              <a:rPr lang="en-US" sz="2400">
                <a:latin typeface="Andale Mono" panose="020B0509000000000004" pitchFamily="49" charset="0"/>
              </a:rPr>
              <a:t>-</a:t>
            </a:r>
            <a:r>
              <a:rPr lang="en-US" sz="2400">
                <a:solidFill>
                  <a:srgbClr val="A3E6EF"/>
                </a:solidFill>
                <a:latin typeface="Andale Mono" panose="020B0509000000000004" pitchFamily="49" charset="0"/>
              </a:rPr>
              <a:t>7673225</a:t>
            </a:r>
            <a:r>
              <a:rPr lang="en-US" sz="2400">
                <a:latin typeface="Andale Mono" panose="020B0509000000000004" pitchFamily="49" charset="0"/>
              </a:rPr>
              <a:t> 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>
                <a:latin typeface="Andale Mono" panose="020B0509000000000004" pitchFamily="49" charset="0"/>
              </a:rPr>
              <a:t>You can also include the </a:t>
            </a:r>
            <a:r>
              <a:rPr lang="en-US" sz="2400">
                <a:solidFill>
                  <a:srgbClr val="756DD9"/>
                </a:solidFill>
                <a:latin typeface="Andale Mono" panose="020B0509000000000004" pitchFamily="49" charset="0"/>
              </a:rPr>
              <a:t>REF</a:t>
            </a:r>
            <a:r>
              <a:rPr lang="en-US" sz="2400">
                <a:latin typeface="Andale Mono" panose="020B0509000000000004" pitchFamily="49" charset="0"/>
              </a:rPr>
              <a:t> and </a:t>
            </a:r>
            <a:r>
              <a:rPr lang="en-US" sz="2400">
                <a:solidFill>
                  <a:srgbClr val="CC99FF"/>
                </a:solidFill>
                <a:latin typeface="Andale Mono" panose="020B0509000000000004" pitchFamily="49" charset="0"/>
              </a:rPr>
              <a:t>ALT</a:t>
            </a:r>
            <a:r>
              <a:rPr lang="en-US" sz="2400">
                <a:latin typeface="Andale Mono" panose="020B0509000000000004" pitchFamily="49" charset="0"/>
              </a:rPr>
              <a:t> allele in your search as in </a:t>
            </a:r>
            <a:r>
              <a:rPr lang="en-US" sz="2400">
                <a:solidFill>
                  <a:srgbClr val="0070C0"/>
                </a:solidFill>
                <a:latin typeface="Andale Mono" panose="020B0509000000000004" pitchFamily="49" charset="0"/>
              </a:rPr>
              <a:t>17</a:t>
            </a:r>
            <a:r>
              <a:rPr lang="en-US" sz="2400">
                <a:latin typeface="Andale Mono" panose="020B0509000000000004" pitchFamily="49" charset="0"/>
              </a:rPr>
              <a:t>-</a:t>
            </a:r>
            <a:r>
              <a:rPr lang="en-US" sz="2400">
                <a:solidFill>
                  <a:srgbClr val="A3E6EF"/>
                </a:solidFill>
                <a:latin typeface="Andale Mono" panose="020B0509000000000004" pitchFamily="49" charset="0"/>
              </a:rPr>
              <a:t>7673222</a:t>
            </a:r>
            <a:r>
              <a:rPr lang="en-US" sz="2400">
                <a:latin typeface="Andale Mono" panose="020B0509000000000004" pitchFamily="49" charset="0"/>
              </a:rPr>
              <a:t>-</a:t>
            </a:r>
            <a:r>
              <a:rPr lang="en-US" sz="2400">
                <a:solidFill>
                  <a:srgbClr val="756DD9"/>
                </a:solidFill>
                <a:latin typeface="Andale Mono" panose="020B0509000000000004" pitchFamily="49" charset="0"/>
              </a:rPr>
              <a:t>C</a:t>
            </a:r>
            <a:r>
              <a:rPr lang="en-US" sz="2400">
                <a:latin typeface="Andale Mono" panose="020B0509000000000004" pitchFamily="49" charset="0"/>
              </a:rPr>
              <a:t>-</a:t>
            </a:r>
            <a:r>
              <a:rPr lang="en-US" sz="2400">
                <a:solidFill>
                  <a:srgbClr val="CC99FF"/>
                </a:solidFill>
                <a:latin typeface="Andale Mono" panose="020B0509000000000004" pitchFamily="49" charset="0"/>
              </a:rPr>
              <a:t>T</a:t>
            </a:r>
            <a:endParaRPr lang="en-US" sz="2400">
              <a:latin typeface="Andale Mono" panose="020B0509000000000004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2400">
              <a:latin typeface="Andale Mono" panose="020B050900000000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E18DE5-D606-6F91-A9BF-ABAB647C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229" y="1484194"/>
            <a:ext cx="6080061" cy="26882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DA2CFA-F0B0-3A96-F58B-BE976F52D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149" y="4508877"/>
            <a:ext cx="6968317" cy="11208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372723-CA5D-2F07-47CF-B91748434803}"/>
              </a:ext>
            </a:extLst>
          </p:cNvPr>
          <p:cNvSpPr/>
          <p:nvPr/>
        </p:nvSpPr>
        <p:spPr>
          <a:xfrm>
            <a:off x="642839" y="6247380"/>
            <a:ext cx="10697205" cy="20587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B987243-5C97-3928-30C6-1F42B0B36918}"/>
              </a:ext>
            </a:extLst>
          </p:cNvPr>
          <p:cNvSpPr/>
          <p:nvPr/>
        </p:nvSpPr>
        <p:spPr>
          <a:xfrm>
            <a:off x="133096" y="4508038"/>
            <a:ext cx="1019485" cy="1749505"/>
          </a:xfrm>
          <a:custGeom>
            <a:avLst/>
            <a:gdLst>
              <a:gd name="connsiteX0" fmla="*/ 1019485 w 1019485"/>
              <a:gd name="connsiteY0" fmla="*/ 8870 h 1668857"/>
              <a:gd name="connsiteX1" fmla="*/ 597454 w 1019485"/>
              <a:gd name="connsiteY1" fmla="*/ 79208 h 1668857"/>
              <a:gd name="connsiteX2" fmla="*/ 91017 w 1019485"/>
              <a:gd name="connsiteY2" fmla="*/ 585645 h 1668857"/>
              <a:gd name="connsiteX3" fmla="*/ 34746 w 1019485"/>
              <a:gd name="connsiteY3" fmla="*/ 1176488 h 1668857"/>
              <a:gd name="connsiteX4" fmla="*/ 470845 w 1019485"/>
              <a:gd name="connsiteY4" fmla="*/ 1668857 h 166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9485" h="1668857">
                <a:moveTo>
                  <a:pt x="1019485" y="8870"/>
                </a:moveTo>
                <a:cubicBezTo>
                  <a:pt x="885842" y="-4026"/>
                  <a:pt x="752199" y="-16921"/>
                  <a:pt x="597454" y="79208"/>
                </a:cubicBezTo>
                <a:cubicBezTo>
                  <a:pt x="442709" y="175337"/>
                  <a:pt x="184802" y="402765"/>
                  <a:pt x="91017" y="585645"/>
                </a:cubicBezTo>
                <a:cubicBezTo>
                  <a:pt x="-2768" y="768525"/>
                  <a:pt x="-28559" y="995953"/>
                  <a:pt x="34746" y="1176488"/>
                </a:cubicBezTo>
                <a:cubicBezTo>
                  <a:pt x="98051" y="1357023"/>
                  <a:pt x="284448" y="1512940"/>
                  <a:pt x="470845" y="1668857"/>
                </a:cubicBezTo>
              </a:path>
            </a:pathLst>
          </a:custGeom>
          <a:noFill/>
          <a:ln w="28575">
            <a:solidFill>
              <a:srgbClr val="A3E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D355E-3BD3-2CFF-7282-E56D7C24C666}"/>
              </a:ext>
            </a:extLst>
          </p:cNvPr>
          <p:cNvSpPr txBox="1"/>
          <p:nvPr/>
        </p:nvSpPr>
        <p:spPr>
          <a:xfrm>
            <a:off x="5212022" y="3023832"/>
            <a:ext cx="24443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Note database version!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9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3 – gnomAD &amp; ClinVAR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FDAB8-F813-3217-8E38-19B235FE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75" y="1326784"/>
            <a:ext cx="9968456" cy="3671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2BA26-941A-852A-EA18-8DCCDAD3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160" y="2810960"/>
            <a:ext cx="5281472" cy="88607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201319-DD27-EFCD-0475-3145E5D0D87D}"/>
              </a:ext>
            </a:extLst>
          </p:cNvPr>
          <p:cNvCxnSpPr>
            <a:cxnSpLocks/>
          </p:cNvCxnSpPr>
          <p:nvPr/>
        </p:nvCxnSpPr>
        <p:spPr>
          <a:xfrm>
            <a:off x="2500838" y="2614010"/>
            <a:ext cx="409433" cy="196950"/>
          </a:xfrm>
          <a:prstGeom prst="straightConnector1">
            <a:avLst/>
          </a:prstGeom>
          <a:ln w="28575">
            <a:solidFill>
              <a:srgbClr val="A3E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CD87BB-D5E1-F38A-A325-B0008BD0DEAC}"/>
              </a:ext>
            </a:extLst>
          </p:cNvPr>
          <p:cNvSpPr txBox="1"/>
          <p:nvPr/>
        </p:nvSpPr>
        <p:spPr>
          <a:xfrm>
            <a:off x="1652303" y="2320434"/>
            <a:ext cx="971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 b="1">
                <a:latin typeface="Andale Mono" panose="020B0509000000000004" pitchFamily="49" charset="0"/>
              </a:rPr>
              <a:t>Hover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1BCC29-1F4B-1E8F-190D-8AA4B74620A4}"/>
              </a:ext>
            </a:extLst>
          </p:cNvPr>
          <p:cNvSpPr/>
          <p:nvPr/>
        </p:nvSpPr>
        <p:spPr>
          <a:xfrm>
            <a:off x="5230391" y="2173870"/>
            <a:ext cx="1378424" cy="282489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840636-BAB9-7FF8-E0E6-97E151927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768" y="5147417"/>
            <a:ext cx="8784353" cy="139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2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4 – Two-tailed Fisher's exact test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5B3C3-5C21-29DA-847A-6FB4374916B9}"/>
              </a:ext>
            </a:extLst>
          </p:cNvPr>
          <p:cNvSpPr txBox="1"/>
          <p:nvPr/>
        </p:nvSpPr>
        <p:spPr>
          <a:xfrm>
            <a:off x="594910" y="1527062"/>
            <a:ext cx="10501662" cy="1251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 panose="020B0509000000000004" pitchFamily="49" charset="0"/>
              </a:rPr>
              <a:t>A statistical test used to determine if there are non-random associations between two categorical variables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2400" dirty="0">
                <a:latin typeface="Andale Mono" panose="020B0509000000000004" pitchFamily="49" charset="0"/>
              </a:rPr>
              <a:t>More information: </a:t>
            </a:r>
            <a:r>
              <a:rPr lang="en-US" sz="2400" dirty="0">
                <a:latin typeface="Andale Mono" panose="020B0509000000000004" pitchFamily="49" charset="0"/>
                <a:hlinkClick r:id="rId2"/>
              </a:rPr>
              <a:t>https://en.wikipedia.org/wiki/Fisher%27s_exact_test</a:t>
            </a:r>
            <a:r>
              <a:rPr lang="en-US" sz="2400" dirty="0">
                <a:latin typeface="Andale Mono" panose="020B0509000000000004" pitchFamily="49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75C88-0973-A689-33D3-C531455C1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69" y="4294116"/>
            <a:ext cx="10501662" cy="1992929"/>
          </a:xfrm>
          <a:prstGeom prst="rect">
            <a:avLst/>
          </a:prstGeom>
        </p:spPr>
      </p:pic>
      <p:sp>
        <p:nvSpPr>
          <p:cNvPr id="7" name="Google Shape;233;p33">
            <a:extLst>
              <a:ext uri="{FF2B5EF4-FFF2-40B4-BE49-F238E27FC236}">
                <a16:creationId xmlns:a16="http://schemas.microsoft.com/office/drawing/2014/main" id="{DB2C49A8-2802-97D8-93C6-3060AB7263E2}"/>
              </a:ext>
            </a:extLst>
          </p:cNvPr>
          <p:cNvSpPr txBox="1"/>
          <p:nvPr/>
        </p:nvSpPr>
        <p:spPr>
          <a:xfrm>
            <a:off x="594910" y="3246000"/>
            <a:ext cx="10889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b="1" dirty="0">
                <a:solidFill>
                  <a:schemeClr val="dk1"/>
                </a:solidFill>
                <a:highlight>
                  <a:srgbClr val="FFFFFF"/>
                </a:highlight>
              </a:rPr>
              <a:t>Hypothesis</a:t>
            </a: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</a:rPr>
              <a:t>: the proportion of studying students is higher among the women than among the men</a:t>
            </a:r>
            <a:endParaRPr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023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4 – Two-tailed Fisher's exact test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pic>
        <p:nvPicPr>
          <p:cNvPr id="5" name="Google Shape;244;p34">
            <a:extLst>
              <a:ext uri="{FF2B5EF4-FFF2-40B4-BE49-F238E27FC236}">
                <a16:creationId xmlns:a16="http://schemas.microsoft.com/office/drawing/2014/main" id="{14C1A15B-738C-38AF-E191-A7D3DB2D77F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445" y="3363184"/>
            <a:ext cx="7690465" cy="2987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548E8-5CA3-6D44-B3C3-95122926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11" y="1370255"/>
            <a:ext cx="10501662" cy="19929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DF0758-9B0F-BCCB-F7C7-B6BCD899B00D}"/>
              </a:ext>
            </a:extLst>
          </p:cNvPr>
          <p:cNvCxnSpPr>
            <a:cxnSpLocks/>
          </p:cNvCxnSpPr>
          <p:nvPr/>
        </p:nvCxnSpPr>
        <p:spPr>
          <a:xfrm flipV="1">
            <a:off x="9949218" y="3234519"/>
            <a:ext cx="150125" cy="1050878"/>
          </a:xfrm>
          <a:prstGeom prst="straightConnector1">
            <a:avLst/>
          </a:prstGeom>
          <a:ln w="38100">
            <a:solidFill>
              <a:srgbClr val="A3E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D7F959-E0CC-2802-98A4-60101A7E93A6}"/>
              </a:ext>
            </a:extLst>
          </p:cNvPr>
          <p:cNvSpPr txBox="1"/>
          <p:nvPr/>
        </p:nvSpPr>
        <p:spPr>
          <a:xfrm>
            <a:off x="8624934" y="4348361"/>
            <a:ext cx="27986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400">
                <a:solidFill>
                  <a:srgbClr val="2C98BA"/>
                </a:solidFill>
                <a:latin typeface="Andale Mono" panose="020B0509000000000004" pitchFamily="49" charset="0"/>
              </a:rPr>
              <a:t>Pay attention to order of a, b, c and d as you will refer to them in the equation</a:t>
            </a:r>
          </a:p>
        </p:txBody>
      </p:sp>
    </p:spTree>
    <p:extLst>
      <p:ext uri="{BB962C8B-B14F-4D97-AF65-F5344CB8AC3E}">
        <p14:creationId xmlns:p14="http://schemas.microsoft.com/office/powerpoint/2010/main" val="169358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4 – Calculate 95% confidence interval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7C304-1865-855D-A054-D5A42C10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1704833"/>
            <a:ext cx="83343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4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18642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Andale Mono" panose="020B0509000000000004" pitchFamily="49" charset="0"/>
              </a:rPr>
              <a:t>Part 4 – Our Contingency Table</a:t>
            </a:r>
            <a:endParaRPr lang="en-US" sz="4000" dirty="0">
              <a:latin typeface="Andale Mono" panose="020B050900000000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DC9AA6-88E1-1AE4-BF01-269433FC9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51588"/>
              </p:ext>
            </p:extLst>
          </p:nvPr>
        </p:nvGraphicFramePr>
        <p:xfrm>
          <a:off x="880281" y="1924335"/>
          <a:ext cx="10126638" cy="39714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75546">
                  <a:extLst>
                    <a:ext uri="{9D8B030D-6E8A-4147-A177-3AD203B41FA5}">
                      <a16:colId xmlns:a16="http://schemas.microsoft.com/office/drawing/2014/main" val="2544120371"/>
                    </a:ext>
                  </a:extLst>
                </a:gridCol>
                <a:gridCol w="3375546">
                  <a:extLst>
                    <a:ext uri="{9D8B030D-6E8A-4147-A177-3AD203B41FA5}">
                      <a16:colId xmlns:a16="http://schemas.microsoft.com/office/drawing/2014/main" val="80524811"/>
                    </a:ext>
                  </a:extLst>
                </a:gridCol>
                <a:gridCol w="3375546">
                  <a:extLst>
                    <a:ext uri="{9D8B030D-6E8A-4147-A177-3AD203B41FA5}">
                      <a16:colId xmlns:a16="http://schemas.microsoft.com/office/drawing/2014/main" val="3197312950"/>
                    </a:ext>
                  </a:extLst>
                </a:gridCol>
              </a:tblGrid>
              <a:tr h="669559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rgbClr val="82D7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/>
                        <a:t>VCF File (case)</a:t>
                      </a:r>
                    </a:p>
                  </a:txBody>
                  <a:tcPr>
                    <a:solidFill>
                      <a:srgbClr val="82D7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 err="1"/>
                        <a:t>gnomAD</a:t>
                      </a:r>
                      <a:r>
                        <a:rPr lang="en-US" sz="2000" dirty="0"/>
                        <a:t> (control)</a:t>
                      </a:r>
                    </a:p>
                  </a:txBody>
                  <a:tcPr>
                    <a:solidFill>
                      <a:srgbClr val="82D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37945"/>
                  </a:ext>
                </a:extLst>
              </a:tr>
              <a:tr h="1650970">
                <a:tc>
                  <a:txBody>
                    <a:bodyPr/>
                    <a:lstStyle/>
                    <a:p>
                      <a:pPr algn="ctr"/>
                      <a:endParaRPr lang="en-US" sz="23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23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Alternative allele #</a:t>
                      </a:r>
                    </a:p>
                  </a:txBody>
                  <a:tcPr>
                    <a:solidFill>
                      <a:srgbClr val="D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</a:t>
                      </a:r>
                    </a:p>
                    <a:p>
                      <a:pPr algn="ctr"/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Number of 1 calls from part 2 question D</a:t>
                      </a:r>
                    </a:p>
                  </a:txBody>
                  <a:tcPr>
                    <a:solidFill>
                      <a:srgbClr val="D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</a:t>
                      </a:r>
                    </a:p>
                    <a:p>
                      <a:pPr algn="ctr"/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Allele count on </a:t>
                      </a:r>
                      <a:r>
                        <a:rPr lang="en-US" sz="23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gnomAD</a:t>
                      </a:r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webpage</a:t>
                      </a:r>
                    </a:p>
                  </a:txBody>
                  <a:tcPr>
                    <a:solidFill>
                      <a:srgbClr val="D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24237"/>
                  </a:ext>
                </a:extLst>
              </a:tr>
              <a:tr h="1650970">
                <a:tc>
                  <a:txBody>
                    <a:bodyPr/>
                    <a:lstStyle/>
                    <a:p>
                      <a:pPr algn="ctr"/>
                      <a:endParaRPr lang="en-US" sz="230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Reference allele #</a:t>
                      </a:r>
                    </a:p>
                  </a:txBody>
                  <a:tcPr>
                    <a:solidFill>
                      <a:srgbClr val="E9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</a:t>
                      </a:r>
                    </a:p>
                    <a:p>
                      <a:pPr algn="ctr"/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Number of 0 calls from part 2 Question D</a:t>
                      </a:r>
                    </a:p>
                  </a:txBody>
                  <a:tcPr>
                    <a:solidFill>
                      <a:srgbClr val="E9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</a:t>
                      </a:r>
                    </a:p>
                    <a:p>
                      <a:pPr algn="ctr"/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Allele number on </a:t>
                      </a:r>
                      <a:r>
                        <a:rPr lang="en-US" sz="23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gnomAD</a:t>
                      </a:r>
                      <a:r>
                        <a:rPr lang="en-US" sz="23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– allele count (B)</a:t>
                      </a:r>
                    </a:p>
                  </a:txBody>
                  <a:tcPr>
                    <a:solidFill>
                      <a:srgbClr val="E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26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56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EED5-7640-C7F3-6ABC-DB7EEBC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0B37-9880-6F41-86B3-123109FD7B6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86872-7BF9-62D5-E197-6FB79C1B77C1}"/>
              </a:ext>
            </a:extLst>
          </p:cNvPr>
          <p:cNvSpPr txBox="1"/>
          <p:nvPr/>
        </p:nvSpPr>
        <p:spPr>
          <a:xfrm>
            <a:off x="594911" y="459586"/>
            <a:ext cx="10697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2">
                    <a:lumMod val="25000"/>
                  </a:schemeClr>
                </a:solidFill>
                <a:latin typeface="Andale Mono" panose="020B0509000000000004" pitchFamily="49" charset="0"/>
              </a:rPr>
              <a:t>The End!</a:t>
            </a:r>
            <a:endParaRPr lang="en-US" sz="4000" dirty="0">
              <a:solidFill>
                <a:schemeClr val="bg2">
                  <a:lumMod val="25000"/>
                </a:schemeClr>
              </a:solidFill>
              <a:latin typeface="Andale Mono" panose="020B050900000000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52268-B36E-3672-0ECB-E9866AB63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0" y="1850271"/>
            <a:ext cx="4789227" cy="47892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6DFEF1-CBC8-B464-472E-CD959BCBE8F4}"/>
              </a:ext>
            </a:extLst>
          </p:cNvPr>
          <p:cNvSpPr txBox="1"/>
          <p:nvPr/>
        </p:nvSpPr>
        <p:spPr>
          <a:xfrm>
            <a:off x="5677469" y="2396769"/>
            <a:ext cx="5710355" cy="17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5400">
                <a:solidFill>
                  <a:srgbClr val="2C98BA"/>
                </a:solidFill>
                <a:latin typeface="Andale Mono" panose="020B0509000000000004" pitchFamily="49" charset="0"/>
              </a:rPr>
              <a:t>Ask on Piazza!</a:t>
            </a:r>
            <a:endParaRPr lang="en-US" sz="5400" dirty="0">
              <a:solidFill>
                <a:srgbClr val="2C98BA"/>
              </a:solidFill>
              <a:latin typeface="Andale Mono" panose="020B0509000000000004" pitchFamily="49" charset="0"/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5400" dirty="0">
              <a:solidFill>
                <a:srgbClr val="2C98BA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02C185C2-C97B-2D87-F7E6-93AB3093B3FF}"/>
              </a:ext>
            </a:extLst>
          </p:cNvPr>
          <p:cNvSpPr/>
          <p:nvPr/>
        </p:nvSpPr>
        <p:spPr>
          <a:xfrm>
            <a:off x="5266897" y="1700282"/>
            <a:ext cx="4974609" cy="2394046"/>
          </a:xfrm>
          <a:prstGeom prst="wedgeEllipseCallout">
            <a:avLst>
              <a:gd name="adj1" fmla="val -52383"/>
              <a:gd name="adj2" fmla="val 46538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6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9644</TotalTime>
  <Words>578</Words>
  <Application>Microsoft Office PowerPoint</Application>
  <PresentationFormat>Widescreen</PresentationFormat>
  <Paragraphs>82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Jenna Ulibarri</dc:creator>
  <cp:lastModifiedBy>Tripp, Lloyd</cp:lastModifiedBy>
  <cp:revision>53</cp:revision>
  <dcterms:created xsi:type="dcterms:W3CDTF">2024-02-28T19:55:35Z</dcterms:created>
  <dcterms:modified xsi:type="dcterms:W3CDTF">2026-03-16T15:18:40Z</dcterms:modified>
</cp:coreProperties>
</file>